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Introduktionsslide. Välkommen till momentet Ungas ekonomi! Idag startar vi med att förstå det ekonomiska kretsloppet. Tid: ca 1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Hook-fråga. Låt eleverna fundera enskilt, sedan diskutera i par. Samla 3–4 förslag på tavlan. Syftet: visa att pengarna inte försvinner — de flödar vidare. Tid: ca 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Presentera de tre aktörerna. Rita dem på tavlan som tre cirklar. Fråga eleverna: "Vilken aktör tillhör ni just nu?" (hushållen). Tid: ca 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Rita flödena mellan aktörerna på tavlan medan du går igenom punkterna. Använd pilar. Betona: det är ett kretslopp — pengarna stannar aldrig. Fråga: "Vad händer om ett flöde bryts?" Tid: ca 4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Diskussionspaus. Låt eleverna spåra hamburgerens 89 kr genom kretsloppet: butikens intäkt → lön till anställda → skatt → offentliga tjänster. Samla några svar. Tid: ca 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Introducera Alex — den fiktiva personen som följer med genom hela momentet. Alex är 19, har ett första jobb och ska navigera ekonomin. Fråga: "Var befinner sig Alex i kretsloppet?" (hushållen). Tid: ca 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Koppla Alex till kretsloppets tre flöden. Peka på tavlans ritning. Fråga: "Vilka flöden aktiveras när Alex får sin lön?" Tid: ca 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Presentera bearbetningsuppgiften. Steg 1: Par ritar kretsloppet (10 min). Steg 2: Byt och ge feedback (8 min). Steg 3: EPA-fråga om arbetslöshet (10 min). Cirkulera och ställ fördjupande frågor. Tid: 28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Sammanfatta de tre nyckelpunkterna. Koppla framåt till nästa lektion: arbetsmarknaden. Tid: ca 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Vad händer med</a:t>
            </a:r>
            <a:endParaRPr lang="en-US" sz="4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pengarna?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 ekonomiska kretsloppet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38404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Samhällskunskap 1a1 — Ungas ekonomi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3566160"/>
            <a:ext cx="2286000" cy="36576"/>
          </a:xfrm>
          <a:prstGeom prst="rect">
            <a:avLst/>
          </a:prstGeom>
          <a:solidFill>
            <a:srgbClr val="F0B429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9728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Om du köper en hamburgare</a:t>
            </a:r>
            <a:endParaRPr lang="en-US" sz="3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för 89 kr — vart tar</a:t>
            </a:r>
            <a:endParaRPr lang="en-US" sz="3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pengarna vägen?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36576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Tänk enskilt i 1 minut.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Diskutera sedan med din bänkkamrat.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Vilka är de tre huvudaktörerna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ekonomin?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24688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280160"/>
            <a:ext cx="246888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544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Hushållen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103120"/>
            <a:ext cx="2103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Individer och familjer som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arbetar, konsumerar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och sparar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74720" y="1280160"/>
            <a:ext cx="24688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74720" y="1280160"/>
            <a:ext cx="2468880" cy="7315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0" y="15544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Företagen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57600" y="2103120"/>
            <a:ext cx="2103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Producerar varor och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tjänster, anställer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och betalar lön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280160"/>
            <a:ext cx="24688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17920" y="1280160"/>
            <a:ext cx="2468880" cy="73152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15544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Offentliga sektorn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0" y="2103120"/>
            <a:ext cx="2103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Staten och kommunerna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skatt in, välfärd ut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(skola, vård, polis)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Hur hänger aktörerna ihop?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914400" y="118872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80000"/>
              </a:lnSpc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Hushållen </a:t>
            </a:r>
            <a:pPr indent="0" marL="0">
              <a:lnSpc>
                <a:spcPct val="180000"/>
              </a:lnSpc>
              <a:buNone/>
            </a:pPr>
            <a:r>
              <a:rPr lang="en-US" sz="1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arbetar i </a:t>
            </a:r>
            <a:pPr indent="0" marL="0">
              <a:lnSpc>
                <a:spcPct val="180000"/>
              </a:lnSpc>
              <a:buNone/>
            </a:pPr>
            <a:r>
              <a:rPr lang="en-US" sz="1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företagen</a:t>
            </a:r>
            <a:pPr indent="0" marL="0">
              <a:lnSpc>
                <a:spcPct val="180000"/>
              </a:lnSpc>
              <a:buNone/>
            </a:pPr>
            <a:r>
              <a:rPr lang="en-US" sz="1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får lön</a:t>
            </a:r>
            <a:endParaRPr lang="en-US" sz="18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Hushållen </a:t>
            </a:r>
            <a:pPr indent="0" marL="0">
              <a:lnSpc>
                <a:spcPct val="180000"/>
              </a:lnSpc>
              <a:buNone/>
            </a:pPr>
            <a:r>
              <a:rPr lang="en-US" sz="1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konsumerar hos </a:t>
            </a:r>
            <a:pPr indent="0" marL="0">
              <a:lnSpc>
                <a:spcPct val="180000"/>
              </a:lnSpc>
              <a:buNone/>
            </a:pPr>
            <a:r>
              <a:rPr lang="en-US" sz="1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företagen</a:t>
            </a:r>
            <a:pPr indent="0" marL="0">
              <a:lnSpc>
                <a:spcPct val="180000"/>
              </a:lnSpc>
              <a:buNone/>
            </a:pPr>
            <a:r>
              <a:rPr lang="en-US" sz="1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pengar flödar tillbaka</a:t>
            </a:r>
            <a:endParaRPr lang="en-US" sz="18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Båda </a:t>
            </a:r>
            <a:pPr indent="0" marL="0">
              <a:lnSpc>
                <a:spcPct val="180000"/>
              </a:lnSpc>
              <a:buNone/>
            </a:pPr>
            <a:r>
              <a:rPr lang="en-US" sz="1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betalar skatt till </a:t>
            </a:r>
            <a:pPr indent="0" marL="0">
              <a:lnSpc>
                <a:spcPct val="180000"/>
              </a:lnSpc>
              <a:buNone/>
            </a:pPr>
            <a:r>
              <a:rPr lang="en-US" sz="18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 offentliga</a:t>
            </a:r>
            <a:pPr indent="0" marL="0">
              <a:lnSpc>
                <a:spcPct val="180000"/>
              </a:lnSpc>
              <a:buNone/>
            </a:pPr>
            <a:r>
              <a:rPr lang="en-US" sz="1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får välfärd tillbaka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3840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Pengarna försvinner aldrig — de cirkulerar!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3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Diskutera (2 min)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Koppla tillbaka till</a:t>
            </a:r>
            <a:endParaRPr lang="en-US" sz="3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hamburgaren — kan ni</a:t>
            </a:r>
            <a:endParaRPr lang="en-US" sz="3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 spåra pengarna</a:t>
            </a:r>
            <a:endParaRPr lang="en-US" sz="3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genom kretsloppet?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38404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Diskutera med din bänkkamrat. Var beredd att dela.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Vem är Alex?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188720"/>
            <a:ext cx="768096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463040"/>
            <a:ext cx="69494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20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Alex, 19 år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precis fått sitt första jobb på ett lager.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Tjänar 22 000 kr i månaden (brutto).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Funderar på att flytta hemifrån.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i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de kommande lektionerna följer vi Alex genom det ekonomiska systemet.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 befinner sig Alex i kretsloppet?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914400" y="118872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200000"/>
              </a:lnSpc>
              <a:buNone/>
            </a:pPr>
            <a:r>
              <a:rPr lang="en-US" sz="17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 får lön </a:t>
            </a:r>
            <a:pPr indent="0" marL="0">
              <a:lnSpc>
                <a:spcPct val="200000"/>
              </a:lnSpc>
              <a:buNone/>
            </a:pPr>
            <a:r>
              <a:rPr lang="en-US" sz="17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från företaget (lagret) → del av kretsloppet!</a:t>
            </a:r>
            <a:endParaRPr lang="en-US" sz="1700" dirty="0"/>
          </a:p>
          <a:p>
            <a:pPr indent="0" marL="0">
              <a:lnSpc>
                <a:spcPct val="200000"/>
              </a:lnSpc>
              <a:buNone/>
            </a:pPr>
            <a:r>
              <a:rPr lang="en-US" sz="17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 betalar skatt </a:t>
            </a:r>
            <a:pPr indent="0" marL="0">
              <a:lnSpc>
                <a:spcPct val="200000"/>
              </a:lnSpc>
              <a:buNone/>
            </a:pPr>
            <a:r>
              <a:rPr lang="en-US" sz="17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finansierar välfärd (skola, vård, kollektivtrafik)</a:t>
            </a:r>
            <a:endParaRPr lang="en-US" sz="1700" dirty="0"/>
          </a:p>
          <a:p>
            <a:pPr indent="0" marL="0">
              <a:lnSpc>
                <a:spcPct val="200000"/>
              </a:lnSpc>
              <a:buNone/>
            </a:pPr>
            <a:r>
              <a:rPr lang="en-US" sz="17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 konsumerar </a:t>
            </a:r>
            <a:pPr indent="0" marL="0">
              <a:lnSpc>
                <a:spcPct val="200000"/>
              </a:lnSpc>
              <a:buNone/>
            </a:pPr>
            <a:r>
              <a:rPr lang="en-US" sz="17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pengarna flödar tillbaka till företagen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14400" y="3840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Alex är en del av kretsloppet — precis som ni!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 är det er tur!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155448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8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Rita det ekonomiska kretsloppet med Alex i centrum</a:t>
            </a:r>
            <a:endParaRPr lang="en-US" sz="1800" dirty="0"/>
          </a:p>
          <a:p>
            <a:pPr marL="342900" indent="-342900">
              <a:lnSpc>
                <a:spcPct val="18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Markera alla flöden: lön, skatt, konsumtion, välfärd</a:t>
            </a:r>
            <a:endParaRPr lang="en-US" sz="1800" dirty="0"/>
          </a:p>
          <a:p>
            <a:pPr marL="342900" indent="-342900">
              <a:lnSpc>
                <a:spcPct val="18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Byt begreppskarta med ett annat par och ge feedback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Tid: 28 minuter (10 + 8 + 10)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Vad har vi lärt oss idag?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914400" y="118872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Ekonomin är ett kretslopp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pengar cirkulerar mellan hushåll, företag och det offentliga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 deltar i kretsloppet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Alex, ni, era familjer — varje gång ni köper något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 ett flöde bryts påverkas hela systemet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därför är ekonomi en samhällsfråga, inte bara en privatsak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Nästa gång: Alex söker jobb — hur fungerar arbetsmarknaden för unga?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Vad händer med pengarna? — Det ekonomiska kretsloppet</dc:title>
  <dc:subject>PptxGenJS Presentation</dc:subject>
  <dc:creator>Gymnasieplaneraren</dc:creator>
  <cp:lastModifiedBy>Gymnasieplaneraren</cp:lastModifiedBy>
  <cp:revision>1</cp:revision>
  <dcterms:created xsi:type="dcterms:W3CDTF">2026-03-02T18:14:31Z</dcterms:created>
  <dcterms:modified xsi:type="dcterms:W3CDTF">2026-03-02T18:14:31Z</dcterms:modified>
</cp:coreProperties>
</file>