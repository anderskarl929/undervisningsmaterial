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ÖPPNING: "Förra momentet handlade om hur industrialisering och imperialism förändrade världen. Idag ska vi se hur de krafterna skapade förutsättningarna för historiens dittills värsta krig."</a:t>
            </a:r>
          </a:p>
          <a:p/>
          <a:p>
            <a:r>
              <a:t>Be eleverna tänka tillbaka: "Vad minns ni om nationalism och imperialism?" Skriv nyckelord på tavlan.</a:t>
            </a:r>
          </a:p>
          <a:p/>
          <a:p>
            <a:r>
              <a:t>Fråga: "Kan ni tänka er att hela Europa dras in i ett krig inom loppet av fem veckor? Det är precis vad som hände 1914. Idag ska vi förstå varför."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Visa Europakartan 1914 på projektor (eller utskriven).</a:t>
            </a:r>
          </a:p>
          <a:p/>
          <a:p>
            <a:r>
              <a:t>Peka ut stormakterna en i taget. Betona:</a:t>
            </a:r>
          </a:p>
          <a:p>
            <a:r>
              <a:t>- Tysklands centrala läge — omgivet av potentiella fiender</a:t>
            </a:r>
          </a:p>
          <a:p>
            <a:r>
              <a:t>- Österrike-Ungerns mångfald av folkgrupper — en tickande bomb</a:t>
            </a:r>
          </a:p>
          <a:p>
            <a:r>
              <a:t>- Osmanska rikets krympande gränser — skapar maktvakuum på Balkan</a:t>
            </a:r>
          </a:p>
          <a:p/>
          <a:p>
            <a:r>
              <a:t>Fråga eleverna: "Om ni var Tysklands ledare, vad skulle oroar er mest med den här kartan?" (Kort handuppräckning.)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Rita allianserna på tavlan eller visa på kartan med färger (t.ex. blå = Ententen, röd = Alliansen).</a:t>
            </a:r>
          </a:p>
          <a:p/>
          <a:p>
            <a:r>
              <a:t>Nyckelpoäng: Allianserna var tänkta att FÖRHINDRA krig genom avskräckning — "angrip en av oss, så möter du oss alla." Men effekten blev den motsatta: ett krig mellan två länder kunde automatiskt dra in alla andra.</a:t>
            </a:r>
          </a:p>
          <a:p/>
          <a:p>
            <a:r>
              <a:t>Fråga (EPA, 1 min): "Om Österrike-Ungern hamnar i krig med Serbien — vad händer med de andra länderna?"</a:t>
            </a:r>
          </a:p>
          <a:p/>
          <a:p>
            <a:r>
              <a:t>Betona att Italien bytte sida 1915 och gick med i Ententen — allianserna var inte hugna i sten.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EPA-paus. Ge eleverna 1 minut par-diskussion, sedan 1 minut helklass.</a:t>
            </a:r>
          </a:p>
          <a:p/>
          <a:p>
            <a:r>
              <a:t>Lyssna efter: Förstår eleverna dominoeffekten? Att allianserna skapar en automatik?</a:t>
            </a:r>
          </a:p>
          <a:p/>
          <a:p>
            <a:r>
              <a:t>Möjliga uppföljningsfrågor:</a:t>
            </a:r>
          </a:p>
          <a:p>
            <a:r>
              <a:t>- "Kan allianserna förhindra krig? Eller gör de krig mer sannolikt?"</a:t>
            </a:r>
          </a:p>
          <a:p>
            <a:r>
              <a:t>- "Finns det liknande allianssystem idag?" (NATO — men det behöver vi inte fördjupa oss i nu)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Koppla explicit tillbaka till imperialism-momentet: "Ni minns att vi pratade om kapplöpningen om Afrika och hur stormakterna tävlade om kolonier. Den tävlan fortsatte — och den ökade misstron mellan länderna."</a:t>
            </a:r>
          </a:p>
          <a:p/>
          <a:p>
            <a:r>
              <a:t>Nationalism: Betona att nationalism inte bara handlar om stolthet, utan om att länder såg sig som rivaler i en tävling. Frankrikes förlust av Elsass-Lothringen 1871 var ett öppet sår.</a:t>
            </a:r>
          </a:p>
          <a:p/>
          <a:p>
            <a:r>
              <a:t>Imperialism: Marockokrisen 1905 och 1911 — Tyskland utmanade Frankrikes intressen i Nordafrika. Kriget undveks, men spänningarna ökade.</a:t>
            </a:r>
          </a:p>
          <a:p/>
          <a:p>
            <a:r>
              <a:t>Fråga till klassen: "Ni studerade imperialismen förra momentet — kan ni se hur den kopplar till de spänningar vi pratar om nu?"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Nyckelbegrepp: MILITARISM och KAPPRUSTNING.</a:t>
            </a:r>
          </a:p>
          <a:p/>
          <a:p>
            <a:r>
              <a:t>Ge konkreta siffror om möjligt:</a:t>
            </a:r>
          </a:p>
          <a:p>
            <a:r>
              <a:t>- Tysklands armé: ca 800 000 → 2 miljoner i mobiliserat tillstånd [VERIFIERA exakta siffror]</a:t>
            </a:r>
          </a:p>
          <a:p>
            <a:r>
              <a:t>- Flottkapprustningen: HMS Dreadnought (1906) startade en ny era — Tyskland svarade med egen flottlag</a:t>
            </a:r>
          </a:p>
          <a:p/>
          <a:p>
            <a:r>
              <a:t>Förklara säkerhetsdilemmat med en enkel liknelse: "Om din granne köper ett lås till dörren känner du dig kanske trygg. Men om din granne köper ett gevär — hur känner du dig då? Och om du köper ett gevär som svar — hur känner sig grannen?"</a:t>
            </a:r>
          </a:p>
          <a:p/>
          <a:p>
            <a:r>
              <a:t>Schlieffenplanen: nämn den kort — "Tyskland hade en plan att snabbt besegra Frankrike genom Belgien innan Ryssland hann mobilisera. Vi tittar närmare på den nästa lektion."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Balkan är platsen där alla fyra orsaker korsas. Visa på kartan:</a:t>
            </a:r>
          </a:p>
          <a:p>
            <a:r>
              <a:t>- Osmanska rikets krympande gränser</a:t>
            </a:r>
          </a:p>
          <a:p>
            <a:r>
              <a:t>- Serbien — litet land med stora ambitioner (ville ena alla sydslaviska folk)</a:t>
            </a:r>
          </a:p>
          <a:p>
            <a:r>
              <a:t>- Österrike-Ungern — fruktade att slavisk nationalism skulle splittra dubbelmonarkin</a:t>
            </a:r>
          </a:p>
          <a:p>
            <a:r>
              <a:t>- Ryssland — såg sig som slavernas beskyddare</a:t>
            </a:r>
          </a:p>
          <a:p/>
          <a:p>
            <a:r>
              <a:t>Betona: "Balkan var som en krutdurk — allt som behövdes var en gnista. Nästa lektion ser vi vad den gnistan var."</a:t>
            </a:r>
          </a:p>
          <a:p/>
          <a:p>
            <a:r>
              <a:t>Balkankrigen 1912-13 kan nämnas kort som uppvärmning: "Det hade redan varit två krig på Balkan åren innan 1914. Spänningen var extrem."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Sammanfattning — gå igenom de fyra orsakerna snabbt, peka på respektive ruta.</a:t>
            </a:r>
          </a:p>
          <a:p/>
          <a:p>
            <a:r>
              <a:t>"Dessa fyra krafter hade byggt upp en enorm spänning i Europa. Alla fyra möttes på Balkan. Allt som behövdes var en gnista."</a:t>
            </a:r>
          </a:p>
          <a:p/>
          <a:p>
            <a:r>
              <a:t>Övergång till elevuppgift: "Nu ska ni själva visa att ni förstår hur de här orsakerna hänger ihop. Ni får ett orsaksdiagram och en begreppslista."</a:t>
            </a:r>
          </a:p>
          <a:p/>
          <a:p>
            <a:r>
              <a:t>Dela ut materialet. Förklara uppgiften:</a:t>
            </a:r>
          </a:p>
          <a:p>
            <a:r>
              <a:t>- Orsaksdiagrammet: "Placera de fyra orsakerna och rita pilar. Vid varje pil, skriv en kort förklaring av sambandet."</a:t>
            </a:r>
          </a:p>
          <a:p>
            <a:r>
              <a:t>- Begreppslistan: "Formulera egna definitioner — inte lärobokens ord, utan era egna."</a:t>
            </a:r>
          </a:p>
          <a:p/>
          <a:p>
            <a:r>
              <a:t>Betona: "Det finns inte ett enda rätt svar på hur orsakerna hänger ihop. Det viktiga är att ni kan förklara sambanden."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5F5F5"/>
                </a:solidFill>
              </a:defRPr>
            </a:pPr>
            <a:r>
              <a:t>KRUTDURKEN EUROPA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D76E"/>
                </a:solidFill>
              </a:defRPr>
            </a:pPr>
            <a:r>
              <a:t>Varför stod Europa på randen till krig 1914?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99999"/>
                </a:solidFill>
              </a:defRPr>
            </a:pPr>
            <a:r>
              <a:t>Historia 1b — Första världskriget, lektion 1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743200"/>
            <a:ext cx="3657600" cy="54864"/>
          </a:xfrm>
          <a:prstGeom prst="rect">
            <a:avLst/>
          </a:prstGeom>
          <a:solidFill>
            <a:srgbClr val="E86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5F5F5"/>
                </a:solidFill>
              </a:defRPr>
            </a:pPr>
            <a:r>
              <a:t>Hur såg Europa ut 1914?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54864" cy="4114800"/>
          </a:xfrm>
          <a:prstGeom prst="rect">
            <a:avLst/>
          </a:prstGeom>
          <a:solidFill>
            <a:srgbClr val="E86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CCCCCC"/>
                </a:solidFill>
              </a:defRPr>
            </a:pPr>
            <a:r>
              <a:t>Sex stormakter dominerade Europa:</a:t>
            </a:r>
          </a:p>
          <a:p>
            <a:pPr>
              <a:spcBef>
                <a:spcPts val="600"/>
              </a:spcBef>
              <a:defRPr sz="2000">
                <a:solidFill>
                  <a:srgbClr val="CCCCCC"/>
                </a:solidFill>
              </a:defRPr>
            </a:pPr>
            <a:r>
              <a:t>Storbritannien — världens största imperium, starkaste flottan</a:t>
            </a:r>
          </a:p>
          <a:p>
            <a:pPr>
              <a:spcBef>
                <a:spcPts val="600"/>
              </a:spcBef>
              <a:defRPr sz="2000">
                <a:solidFill>
                  <a:srgbClr val="CCCCCC"/>
                </a:solidFill>
              </a:defRPr>
            </a:pPr>
            <a:r>
              <a:t>Frankrike — industrialiserat, kolonialmakt, ville ha revansch mot Tyskland</a:t>
            </a:r>
          </a:p>
          <a:p>
            <a:pPr>
              <a:spcBef>
                <a:spcPts val="600"/>
              </a:spcBef>
              <a:defRPr sz="2000">
                <a:solidFill>
                  <a:srgbClr val="CCCCCC"/>
                </a:solidFill>
              </a:defRPr>
            </a:pPr>
            <a:r>
              <a:t>Ryssland — störst befolkning, men ekonomiskt svagast</a:t>
            </a:r>
          </a:p>
          <a:p>
            <a:pPr>
              <a:spcBef>
                <a:spcPts val="600"/>
              </a:spcBef>
              <a:defRPr sz="2000">
                <a:solidFill>
                  <a:srgbClr val="CCCCCC"/>
                </a:solidFill>
              </a:defRPr>
            </a:pPr>
            <a:r>
              <a:t>Tyskland — nytt kejsardöme (1871), snabb industrialisering, ville ha sin "plats i solen"</a:t>
            </a:r>
          </a:p>
          <a:p>
            <a:pPr>
              <a:spcBef>
                <a:spcPts val="600"/>
              </a:spcBef>
              <a:defRPr sz="2000">
                <a:solidFill>
                  <a:srgbClr val="CCCCCC"/>
                </a:solidFill>
              </a:defRPr>
            </a:pPr>
            <a:r>
              <a:t>Österrike-Ungern — dubbelmonarki, många folkgrupper, instabilt</a:t>
            </a:r>
          </a:p>
          <a:p>
            <a:pPr>
              <a:spcBef>
                <a:spcPts val="600"/>
              </a:spcBef>
              <a:defRPr sz="2000">
                <a:solidFill>
                  <a:srgbClr val="CCCCCC"/>
                </a:solidFill>
              </a:defRPr>
            </a:pPr>
            <a:r>
              <a:t>Osmanska riket — "Europas sjuke man", minskande territorium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0" y="1371600"/>
            <a:ext cx="4572000" cy="4114800"/>
          </a:xfrm>
          <a:prstGeom prst="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0" y="155448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6F3A"/>
                </a:solidFill>
              </a:defRPr>
            </a:pPr>
            <a:r>
              <a:t>VISA EUROPAKARTA 1914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219456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99999"/>
                </a:solidFill>
              </a:defRPr>
            </a:pPr>
            <a:r>
              <a:t>Peka ut stormakterna.</a:t>
            </a:r>
            <a:br/>
            <a:r>
              <a:t>Vilka gränsar till varandra?</a:t>
            </a:r>
            <a:br/>
            <a:r>
              <a:t>Var finns spänningar?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5F5F5"/>
                </a:solidFill>
              </a:defRPr>
            </a:pPr>
            <a:r>
              <a:t>Varför bildade länderna allianser?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5029200" cy="4114800"/>
          </a:xfrm>
          <a:prstGeom prst="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86F3A"/>
                </a:solidFill>
              </a:defRPr>
            </a:pPr>
            <a:r>
              <a:t>TRIPPELALLIANSEN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46888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F5F5"/>
                </a:solidFill>
              </a:defRPr>
            </a:pPr>
            <a:r>
              <a:t>Tyskland + Österrike-Ungern + Italien</a:t>
            </a:r>
          </a:p>
          <a:p>
            <a:pPr>
              <a:spcBef>
                <a:spcPts val="800"/>
              </a:spcBef>
              <a:defRPr sz="1000" b="0">
                <a:solidFill>
                  <a:srgbClr val="F5F5F5"/>
                </a:solidFill>
              </a:defRPr>
            </a:pPr>
          </a:p>
          <a:p>
            <a:pPr>
              <a:spcBef>
                <a:spcPts val="800"/>
              </a:spcBef>
              <a:defRPr sz="1800" b="0">
                <a:solidFill>
                  <a:srgbClr val="CCCCCC"/>
                </a:solidFill>
              </a:defRPr>
            </a:pPr>
            <a:r>
              <a:t>"Centralblocket" — Tyskland och Österrike-Ungern i centrum av Europa</a:t>
            </a:r>
          </a:p>
          <a:p>
            <a:pPr>
              <a:spcBef>
                <a:spcPts val="800"/>
              </a:spcBef>
              <a:defRPr sz="1800" b="0">
                <a:solidFill>
                  <a:srgbClr val="CCCCCC"/>
                </a:solidFill>
              </a:defRPr>
            </a:pPr>
            <a:r>
              <a:t>Känsla av att vara omringade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645920"/>
            <a:ext cx="5029200" cy="4114800"/>
          </a:xfrm>
          <a:prstGeom prst="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8288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D76E"/>
                </a:solidFill>
              </a:defRPr>
            </a:pPr>
            <a:r>
              <a:t>TRIPPELENTENTEN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246888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F5F5"/>
                </a:solidFill>
              </a:defRPr>
            </a:pPr>
            <a:r>
              <a:t>Frankrike + Ryssland + Storbritannien</a:t>
            </a:r>
          </a:p>
          <a:p>
            <a:pPr>
              <a:spcBef>
                <a:spcPts val="800"/>
              </a:spcBef>
              <a:defRPr sz="1000" b="0">
                <a:solidFill>
                  <a:srgbClr val="F5F5F5"/>
                </a:solidFill>
              </a:defRPr>
            </a:pPr>
          </a:p>
          <a:p>
            <a:pPr>
              <a:spcBef>
                <a:spcPts val="800"/>
              </a:spcBef>
              <a:defRPr sz="1800" b="0">
                <a:solidFill>
                  <a:srgbClr val="CCCCCC"/>
                </a:solidFill>
              </a:defRPr>
            </a:pPr>
            <a:r>
              <a:t>Omringade Tyskland från två håll — tvåfrontshot</a:t>
            </a:r>
          </a:p>
          <a:p>
            <a:pPr>
              <a:spcBef>
                <a:spcPts val="800"/>
              </a:spcBef>
              <a:defRPr sz="1800" b="0">
                <a:solidFill>
                  <a:srgbClr val="CCCCCC"/>
                </a:solidFill>
              </a:defRPr>
            </a:pPr>
            <a:r>
              <a:t>Inte en formell allians, men tydliga löften om stöd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43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76E"/>
                </a:solidFill>
              </a:defRPr>
            </a:pPr>
            <a:r>
              <a:t>Allianserna skapade trygghet — men också en mekanism där ett lokalt krig kunde dra in hela Europa.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1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6F3A"/>
                </a:solidFill>
              </a:defRPr>
            </a:pPr>
            <a:r>
              <a:t>DISKUTERA MED DIN GRANNE (2 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5F5F5"/>
                </a:solidFill>
              </a:defRPr>
            </a:pPr>
            <a:r>
              <a:t>Om ett land i en allians hamnar i krig</a:t>
            </a:r>
            <a:br/>
            <a:r>
              <a:t>— vad händer med de andra?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5029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99999"/>
                </a:solidFill>
              </a:defRPr>
            </a:pPr>
            <a:r>
              <a:t>Var beredd att dela ditt svar.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5F5F5"/>
                </a:solidFill>
              </a:defRPr>
            </a:pPr>
            <a:r>
              <a:t>Hur drev nationalism och imperialism mot krig?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54864" cy="2011680"/>
          </a:xfrm>
          <a:prstGeom prst="rect">
            <a:avLst/>
          </a:prstGeom>
          <a:solidFill>
            <a:srgbClr val="E86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86F3A"/>
                </a:solidFill>
              </a:defRPr>
            </a:pPr>
            <a:r>
              <a:t>NATIONALISM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CCCCC"/>
                </a:solidFill>
              </a:defRPr>
            </a:pPr>
            <a:r>
              <a:t>Varje folk förtjänar sin egen stat</a:t>
            </a:r>
          </a:p>
          <a:p>
            <a:pPr>
              <a:spcBef>
                <a:spcPts val="600"/>
              </a:spcBef>
              <a:defRPr sz="1800">
                <a:solidFill>
                  <a:srgbClr val="CCCCCC"/>
                </a:solidFill>
              </a:defRPr>
            </a:pPr>
            <a:r>
              <a:t>Stolthet och överlägsenhet — "vår nation är bäst"</a:t>
            </a:r>
          </a:p>
          <a:p>
            <a:pPr>
              <a:spcBef>
                <a:spcPts val="600"/>
              </a:spcBef>
              <a:defRPr sz="1800">
                <a:solidFill>
                  <a:srgbClr val="CCCCCC"/>
                </a:solidFill>
              </a:defRPr>
            </a:pPr>
            <a:r>
              <a:t>Revanschism — Frankrike ville ha tillbaka Elsass-Lothringen</a:t>
            </a:r>
          </a:p>
          <a:p>
            <a:pPr>
              <a:spcBef>
                <a:spcPts val="600"/>
              </a:spcBef>
              <a:defRPr sz="1800">
                <a:solidFill>
                  <a:srgbClr val="CCCCCC"/>
                </a:solidFill>
              </a:defRPr>
            </a:pPr>
            <a:r>
              <a:t>Panslavism — Ryssland som beskyddare av slaviska folk på Balkan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645920"/>
            <a:ext cx="54864" cy="2011680"/>
          </a:xfrm>
          <a:prstGeom prst="rect">
            <a:avLst/>
          </a:prstGeom>
          <a:solidFill>
            <a:srgbClr val="E86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0" y="16459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86F3A"/>
                </a:solidFill>
              </a:defRPr>
            </a:pPr>
            <a:r>
              <a:t>IMPERIALISM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22860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CCCCC"/>
                </a:solidFill>
              </a:defRPr>
            </a:pPr>
            <a:r>
              <a:t>Tävlan om kolonier, marknader och prestige</a:t>
            </a:r>
          </a:p>
          <a:p>
            <a:pPr>
              <a:spcBef>
                <a:spcPts val="600"/>
              </a:spcBef>
              <a:defRPr sz="1800">
                <a:solidFill>
                  <a:srgbClr val="CCCCCC"/>
                </a:solidFill>
              </a:defRPr>
            </a:pPr>
            <a:r>
              <a:t>Tyskland ville ha en "plats i solen" — utmanade Storbritannien</a:t>
            </a:r>
          </a:p>
          <a:p>
            <a:pPr>
              <a:spcBef>
                <a:spcPts val="600"/>
              </a:spcBef>
              <a:defRPr sz="1800">
                <a:solidFill>
                  <a:srgbClr val="CCCCCC"/>
                </a:solidFill>
              </a:defRPr>
            </a:pPr>
            <a:r>
              <a:t>Konflikter i Afrika och Asien ökade spänningarna</a:t>
            </a:r>
          </a:p>
          <a:p>
            <a:pPr>
              <a:spcBef>
                <a:spcPts val="600"/>
              </a:spcBef>
              <a:defRPr sz="1800">
                <a:solidFill>
                  <a:srgbClr val="CCCCCC"/>
                </a:solidFill>
              </a:defRPr>
            </a:pPr>
            <a:r>
              <a:t>Kolonierna = råvaror, marknader, militärbaser, stolthet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4754880"/>
            <a:ext cx="8229600" cy="1371600"/>
          </a:xfrm>
          <a:prstGeom prst="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03120" y="493776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D76E"/>
                </a:solidFill>
              </a:defRPr>
            </a:pPr>
            <a:r>
              <a:t>Koppling till föregående moment: Ni har redan studerat hur industrialiseringen drev imperialismen.</a:t>
            </a:r>
            <a:br/>
            <a:r>
              <a:t>Nu ser vi hur samma krafter drev Europa mot krig.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5F5F5"/>
                </a:solidFill>
              </a:defRPr>
            </a:pPr>
            <a:r>
              <a:t>Varför rustade länderna för krig — om de ville ha fred?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86F3A"/>
                </a:solidFill>
              </a:defRPr>
            </a:pPr>
            <a:r>
              <a:t>MILITARISM</a:t>
            </a:r>
          </a:p>
          <a:p>
            <a:pPr>
              <a:spcBef>
                <a:spcPts val="1600"/>
              </a:spcBef>
              <a:defRPr sz="2000" b="0">
                <a:solidFill>
                  <a:srgbClr val="CCCCCC"/>
                </a:solidFill>
              </a:defRPr>
            </a:pPr>
            <a:r>
              <a:t>Tron att militär styrka är nyckeln till nationens storhet</a:t>
            </a:r>
          </a:p>
          <a:p>
            <a:pPr>
              <a:spcBef>
                <a:spcPts val="800"/>
              </a:spcBef>
              <a:defRPr sz="1000" b="0">
                <a:solidFill>
                  <a:srgbClr val="F5F5F5"/>
                </a:solidFill>
              </a:defRPr>
            </a:pPr>
          </a:p>
          <a:p>
            <a:pPr>
              <a:spcBef>
                <a:spcPts val="600"/>
              </a:spcBef>
              <a:defRPr sz="1800">
                <a:solidFill>
                  <a:srgbClr val="CCCCCC"/>
                </a:solidFill>
              </a:defRPr>
            </a:pPr>
            <a:r>
              <a:t>Arméerna växte explosionsartat — Tyskland och Frankrike hade miljonhärar</a:t>
            </a:r>
          </a:p>
          <a:p>
            <a:pPr>
              <a:spcBef>
                <a:spcPts val="600"/>
              </a:spcBef>
              <a:defRPr sz="1800">
                <a:solidFill>
                  <a:srgbClr val="CCCCCC"/>
                </a:solidFill>
              </a:defRPr>
            </a:pPr>
            <a:r>
              <a:t>Flottkapprustningen: Tyskland utmanade Storbritanniens sjöherravälde</a:t>
            </a:r>
          </a:p>
          <a:p>
            <a:pPr>
              <a:spcBef>
                <a:spcPts val="600"/>
              </a:spcBef>
              <a:defRPr sz="1800">
                <a:solidFill>
                  <a:srgbClr val="CCCCCC"/>
                </a:solidFill>
              </a:defRPr>
            </a:pPr>
            <a:r>
              <a:t>Detaljerade krigsplaner låg färdiga — Schlieffenplanen (mer om den nästa lektion)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0" y="1828800"/>
            <a:ext cx="4572000" cy="2743200"/>
          </a:xfrm>
          <a:prstGeom prst="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0" y="201168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D76E"/>
                </a:solidFill>
              </a:defRPr>
            </a:pPr>
            <a:r>
              <a:t>PARADOXEN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0" y="2651760"/>
            <a:ext cx="4114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</a:defRPr>
            </a:pPr>
            <a:r>
              <a:t>Varje land rustade "för att försvara sig". Men ju mer alla rustade, desto farligare blev läget.</a:t>
            </a:r>
            <a:br/>
            <a:br/>
            <a:r>
              <a:t>Säkerhetsdilemmat: din trygghet är min osäkerhet.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5F5F5"/>
                </a:solidFill>
              </a:defRPr>
            </a:pPr>
            <a:r>
              <a:t>Varför kallades Balkan "Europas krutdurk"?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86F3A"/>
                </a:solidFill>
              </a:defRPr>
            </a:pPr>
            <a:r>
              <a:t>Balkans tre spänningar:</a:t>
            </a:r>
          </a:p>
          <a:p>
            <a:pPr>
              <a:spcBef>
                <a:spcPts val="800"/>
              </a:spcBef>
              <a:defRPr sz="1000" b="0">
                <a:solidFill>
                  <a:srgbClr val="F5F5F5"/>
                </a:solidFill>
              </a:defRPr>
            </a:pPr>
          </a:p>
          <a:p>
            <a:pPr>
              <a:spcBef>
                <a:spcPts val="1200"/>
              </a:spcBef>
              <a:defRPr sz="2200" b="1">
                <a:solidFill>
                  <a:srgbClr val="F5F5F5"/>
                </a:solidFill>
              </a:defRPr>
            </a:pPr>
            <a:r>
              <a:t>1. Osmanska rikets tillbakagång</a:t>
            </a:r>
          </a:p>
          <a:p>
            <a:pPr>
              <a:spcBef>
                <a:spcPts val="800"/>
              </a:spcBef>
              <a:defRPr sz="1800" b="0">
                <a:solidFill>
                  <a:srgbClr val="CCCCCC"/>
                </a:solidFill>
              </a:defRPr>
            </a:pPr>
            <a:r>
              <a:t>   Nya stater bildades: Serbien, Bulgarien, Grekland</a:t>
            </a:r>
          </a:p>
          <a:p>
            <a:pPr>
              <a:spcBef>
                <a:spcPts val="800"/>
              </a:spcBef>
              <a:defRPr sz="1800" b="0">
                <a:solidFill>
                  <a:srgbClr val="CCCCCC"/>
                </a:solidFill>
              </a:defRPr>
            </a:pPr>
            <a:r>
              <a:t>   Maktvakuum — vem skulle fylla tomrummet?</a:t>
            </a:r>
          </a:p>
          <a:p>
            <a:pPr>
              <a:spcBef>
                <a:spcPts val="800"/>
              </a:spcBef>
              <a:defRPr sz="1000" b="0">
                <a:solidFill>
                  <a:srgbClr val="F5F5F5"/>
                </a:solidFill>
              </a:defRPr>
            </a:pPr>
          </a:p>
          <a:p>
            <a:pPr>
              <a:spcBef>
                <a:spcPts val="800"/>
              </a:spcBef>
              <a:defRPr sz="2200" b="1">
                <a:solidFill>
                  <a:srgbClr val="F5F5F5"/>
                </a:solidFill>
              </a:defRPr>
            </a:pPr>
            <a:r>
              <a:t>2. Österrike-Ungerns ambitioner</a:t>
            </a:r>
          </a:p>
          <a:p>
            <a:pPr>
              <a:spcBef>
                <a:spcPts val="800"/>
              </a:spcBef>
              <a:defRPr sz="1800" b="0">
                <a:solidFill>
                  <a:srgbClr val="CCCCCC"/>
                </a:solidFill>
              </a:defRPr>
            </a:pPr>
            <a:r>
              <a:t>   Annekterade Bosnien-Hercegovina 1908</a:t>
            </a:r>
          </a:p>
          <a:p>
            <a:pPr>
              <a:spcBef>
                <a:spcPts val="800"/>
              </a:spcBef>
              <a:defRPr sz="1800" b="0">
                <a:solidFill>
                  <a:srgbClr val="CCCCCC"/>
                </a:solidFill>
              </a:defRPr>
            </a:pPr>
            <a:r>
              <a:t>   Ville kontrollera regionen — fruktade slavisk nationalism</a:t>
            </a:r>
          </a:p>
          <a:p>
            <a:pPr>
              <a:spcBef>
                <a:spcPts val="800"/>
              </a:spcBef>
              <a:defRPr sz="1000" b="0">
                <a:solidFill>
                  <a:srgbClr val="F5F5F5"/>
                </a:solidFill>
              </a:defRPr>
            </a:pPr>
          </a:p>
          <a:p>
            <a:pPr>
              <a:spcBef>
                <a:spcPts val="800"/>
              </a:spcBef>
              <a:defRPr sz="2200" b="1">
                <a:solidFill>
                  <a:srgbClr val="F5F5F5"/>
                </a:solidFill>
              </a:defRPr>
            </a:pPr>
            <a:r>
              <a:t>3. Rysslands panslavism</a:t>
            </a:r>
          </a:p>
          <a:p>
            <a:pPr>
              <a:spcBef>
                <a:spcPts val="800"/>
              </a:spcBef>
              <a:defRPr sz="1800" b="0">
                <a:solidFill>
                  <a:srgbClr val="CCCCCC"/>
                </a:solidFill>
              </a:defRPr>
            </a:pPr>
            <a:r>
              <a:t>   Stödde Serbien och andra slaviska folk</a:t>
            </a:r>
          </a:p>
          <a:p>
            <a:pPr>
              <a:spcBef>
                <a:spcPts val="800"/>
              </a:spcBef>
              <a:defRPr sz="1800" b="0">
                <a:solidFill>
                  <a:srgbClr val="CCCCCC"/>
                </a:solidFill>
              </a:defRPr>
            </a:pPr>
            <a:r>
              <a:t>   Rivalitet med Österrike-Ungern om inflytande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0" y="1828800"/>
            <a:ext cx="4572000" cy="3200400"/>
          </a:xfrm>
          <a:prstGeom prst="rect">
            <a:avLst/>
          </a:prstGeom>
          <a:solidFill>
            <a:srgbClr val="3A1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0" y="201168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D76E"/>
                </a:solidFill>
              </a:defRPr>
            </a:pPr>
            <a:r>
              <a:t>Alla fyra orsaker möts på Balkan:</a:t>
            </a:r>
            <a:br/>
            <a:br/>
            <a:r>
              <a:t>• Nationalism — slaviska folk vill ha egna stater</a:t>
            </a:r>
            <a:br/>
            <a:r>
              <a:t>• Imperialism — stormakterna vill kontrollera</a:t>
            </a:r>
            <a:br/>
            <a:r>
              <a:t>• Allianser — Ryssland stöder Serbien, Tyskland stöder Österrike</a:t>
            </a:r>
            <a:br/>
            <a:r>
              <a:t>• Militarism — alla redo att slåss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5F5F5"/>
                </a:solidFill>
              </a:defRPr>
            </a:pPr>
            <a:r>
              <a:t>Fyra orsaker — en krutdurk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645920"/>
            <a:ext cx="2651760" cy="2560320"/>
          </a:xfrm>
          <a:prstGeom prst="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86F3A"/>
                </a:solidFill>
              </a:defRPr>
            </a:pPr>
            <a:r>
              <a:t>ALLIANSER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6888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</a:defRPr>
            </a:pPr>
            <a:r>
              <a:t>Dominoeffekt:</a:t>
            </a:r>
            <a:br/>
            <a:r>
              <a:t>ett krig drar in alla</a:t>
            </a:r>
          </a:p>
        </p:txBody>
      </p:sp>
      <p:sp>
        <p:nvSpPr>
          <p:cNvPr id="6" name="Rectangle 5"/>
          <p:cNvSpPr/>
          <p:nvPr/>
        </p:nvSpPr>
        <p:spPr>
          <a:xfrm>
            <a:off x="3337560" y="1645920"/>
            <a:ext cx="2651760" cy="2560320"/>
          </a:xfrm>
          <a:prstGeom prst="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20440" y="18288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86F3A"/>
                </a:solidFill>
              </a:defRPr>
            </a:pPr>
            <a:r>
              <a:t>NATIONALISM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440" y="246888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</a:defRPr>
            </a:pPr>
            <a:r>
              <a:t>Stolthet, rivalitet</a:t>
            </a:r>
            <a:br/>
            <a:r>
              <a:t>och revanschism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645920"/>
            <a:ext cx="2651760" cy="2560320"/>
          </a:xfrm>
          <a:prstGeom prst="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86F3A"/>
                </a:solidFill>
              </a:defRPr>
            </a:pPr>
            <a:r>
              <a:t>IMPERIALISM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46888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</a:defRPr>
            </a:pPr>
            <a:r>
              <a:t>Tävlan om kolonier,</a:t>
            </a:r>
            <a:br/>
            <a:r>
              <a:t>marknader och makt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98280" y="1645920"/>
            <a:ext cx="2651760" cy="2560320"/>
          </a:xfrm>
          <a:prstGeom prst="rect">
            <a:avLst/>
          </a:prstGeom>
          <a:solidFill>
            <a:srgbClr val="242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81160" y="18288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86F3A"/>
                </a:solidFill>
              </a:defRPr>
            </a:pPr>
            <a:r>
              <a:t>MILITARISM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81160" y="246888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</a:defRPr>
            </a:pPr>
            <a:r>
              <a:t>Kapprustning och</a:t>
            </a:r>
            <a:br/>
            <a:r>
              <a:t>färdiga krigsplaner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754880"/>
            <a:ext cx="10058400" cy="1645920"/>
          </a:xfrm>
          <a:prstGeom prst="rect">
            <a:avLst/>
          </a:prstGeom>
          <a:solidFill>
            <a:srgbClr val="0E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49377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D76E"/>
                </a:solidFill>
              </a:defRPr>
            </a:pPr>
            <a:r>
              <a:t>NU SKA NI: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539496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</a:defRPr>
            </a:pPr>
            <a:r>
              <a:t>1. Skapa ett orsaksdiagram — placera orsakerna och rita pilar som visar hur de hänger ihop</a:t>
            </a:r>
            <a:br/>
            <a:r>
              <a:t>2. Fylla i begreppslistan med egna definitioner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